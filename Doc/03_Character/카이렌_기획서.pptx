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4850" y="885974"/>
            <a:ext cx="4394299" cy="1841450"/>
          </a:xfrm>
          <a:prstGeom prst="roundRect">
            <a:avLst>
              <a:gd name="adj" fmla="val 5517"/>
            </a:avLst>
          </a:prstGeom>
          <a:solidFill>
            <a:srgbClr val="2A48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08147" y="1266974"/>
            <a:ext cx="29277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기획서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108147" y="2003524"/>
            <a:ext cx="2927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카이렌 (Kairen)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04592" y="3362325"/>
            <a:ext cx="23815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"속죄의 치유사" | 힐러-디버퍼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77468" y="3905101"/>
            <a:ext cx="3048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AirDesign - 그리드 기반 턴제 카드 전략 게임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2A48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04447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3441" y="1154013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628626"/>
            <a:ext cx="241809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031802"/>
            <a:ext cx="24180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컨셉 요약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285702"/>
            <a:ext cx="24180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스토리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539603"/>
            <a:ext cx="24180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성격과 특성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793504"/>
            <a:ext cx="24180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3047405"/>
            <a:ext cx="24180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플레이 경험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6584" y="104447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02075" y="1154013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6584" y="1628626"/>
            <a:ext cx="24182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 시스템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6584" y="2031802"/>
            <a:ext cx="24182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 스택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6584" y="2285702"/>
            <a:ext cx="24182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패시브 스킬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6584" y="2539603"/>
            <a:ext cx="24182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인텐트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6584" y="2793504"/>
            <a:ext cx="24182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고유 카드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5366" y="104447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0857" y="1154013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5366" y="1628626"/>
            <a:ext cx="241809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외형 및 리소스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5366" y="2031802"/>
            <a:ext cx="24180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외형 컨셉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5366" y="2285702"/>
            <a:ext cx="24180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애니메이션 목록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5366" y="2539603"/>
            <a:ext cx="24180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이펙트 목록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5963" y="1452563"/>
            <a:ext cx="5171926" cy="2238226"/>
          </a:xfrm>
          <a:prstGeom prst="roundRect">
            <a:avLst>
              <a:gd name="adj" fmla="val 45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70462" y="2011263"/>
            <a:ext cx="32029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5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70462" y="2411313"/>
            <a:ext cx="32029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970462" y="3071664"/>
            <a:ext cx="32029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캐릭터의 기획 배경 및 설계 방향성 소개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8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4775"/>
            <a:ext cx="474315" cy="298252"/>
          </a:xfrm>
          <a:prstGeom prst="roundRect">
            <a:avLst>
              <a:gd name="adj" fmla="val 8516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6817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8716" y="101501"/>
            <a:ext cx="16540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 | 컨셉 요약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3901" y="698302"/>
            <a:ext cx="2539901" cy="3174950"/>
          </a:xfrm>
          <a:prstGeom prst="roundRect">
            <a:avLst>
              <a:gd name="adj" fmla="val 4000"/>
            </a:avLst>
          </a:prstGeom>
          <a:solidFill>
            <a:srgbClr val="2A48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8796" y="2085677"/>
            <a:ext cx="13299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컨셉 이미지</a:t>
            </a:r>
            <a:endParaRPr lang="en-US" sz="1200" dirty="0"/>
          </a:p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(타락한 고위 사제)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47702" y="2770584"/>
            <a:ext cx="5959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컨셉 키워드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47702" y="3034010"/>
            <a:ext cx="59592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갭 모에 | 온화한 고위사제 외형 + 타락한 과거 | 치유자 + 한때 파괴자였던 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7702" y="3232100"/>
            <a:ext cx="59592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 전이 | 치유 = 적 약화 | 아군의 상처를 적에게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47702" y="3430191"/>
            <a:ext cx="59592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외우주 오염 | 정신 침식 | 속죄의 여정 | 희생자들의 고통을 품은 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7702" y="3717131"/>
            <a:ext cx="5842397" cy="393502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66752" y="3717131"/>
            <a:ext cx="0" cy="393502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7303" y="3818632"/>
            <a:ext cx="57133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"치유의 대가는 적이 치른다"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8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4775"/>
            <a:ext cx="474315" cy="298252"/>
          </a:xfrm>
          <a:prstGeom prst="roundRect">
            <a:avLst>
              <a:gd name="adj" fmla="val 8516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6817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8716" y="101501"/>
            <a:ext cx="18872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 | 배경 스토리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7450" y="698302"/>
            <a:ext cx="1579811" cy="953691"/>
          </a:xfrm>
          <a:prstGeom prst="roundRect">
            <a:avLst>
              <a:gd name="adj" fmla="val 799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17450" y="717352"/>
            <a:ext cx="1579811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401" y="863352"/>
            <a:ext cx="13524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고위 사제 시절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4401" y="1098203"/>
            <a:ext cx="1352428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재생의 신을 섬기던 최고의 치유사. 어떤 상처도 아물게 하는 손길.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49661" y="698302"/>
            <a:ext cx="1579959" cy="953691"/>
          </a:xfrm>
          <a:prstGeom prst="roundRect">
            <a:avLst>
              <a:gd name="adj" fmla="val 799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049661" y="717352"/>
            <a:ext cx="1579959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611" y="863352"/>
            <a:ext cx="1352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검은 재앙과 조우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76611" y="1098203"/>
            <a:ext cx="135258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생존자 구출 중 외우주 존재와 마주침. 정신 오염 시작.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82020" y="698302"/>
            <a:ext cx="1579811" cy="953691"/>
          </a:xfrm>
          <a:prstGeom prst="roundRect">
            <a:avLst>
              <a:gd name="adj" fmla="val 799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782020" y="717352"/>
            <a:ext cx="1579811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8971" y="863352"/>
            <a:ext cx="13524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하수인 시절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08971" y="1098203"/>
            <a:ext cx="1352428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오염된 상태로 수많은 결사대원과 모험가들을 죽임. 치유의 손이 파괴의 도구로.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14231" y="698302"/>
            <a:ext cx="1579959" cy="953691"/>
          </a:xfrm>
          <a:prstGeom prst="roundRect">
            <a:avLst>
              <a:gd name="adj" fmla="val 799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514231" y="717352"/>
            <a:ext cx="1579959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181" y="863352"/>
            <a:ext cx="1352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정신 회복과 자살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41181" y="1098203"/>
            <a:ext cx="1352580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잠시 정신을 차린 순간, 자신의 죄를 깨닫고 스스로 목숨을 끊음.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46590" y="698302"/>
            <a:ext cx="1579959" cy="953691"/>
          </a:xfrm>
          <a:prstGeom prst="roundRect">
            <a:avLst>
              <a:gd name="adj" fmla="val 7990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246590" y="717352"/>
            <a:ext cx="1579959" cy="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3541" y="863352"/>
            <a:ext cx="1352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부활과 속죄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73541" y="1098203"/>
            <a:ext cx="1352580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루의 신전에서 부활. 검은 재앙 속에서 사람들을 구하며 속죄의 여정 시작.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7450" y="1804392"/>
            <a:ext cx="4140250" cy="1130201"/>
          </a:xfrm>
          <a:prstGeom prst="roundRect">
            <a:avLst>
              <a:gd name="adj" fmla="val 6742"/>
            </a:avLst>
          </a:prstGeom>
          <a:solidFill>
            <a:srgbClr val="2A48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9850" y="1956792"/>
            <a:ext cx="39121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구해주신 건가요? 대가도 없이?"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9850" y="2128242"/>
            <a:ext cx="39121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"...대가는 이미 받았습니다. 아주 오래전에."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9850" y="2363093"/>
            <a:ext cx="39121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카이렌, 구조된 모험가에게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48200" y="1804392"/>
            <a:ext cx="4178350" cy="1130201"/>
          </a:xfrm>
          <a:prstGeom prst="roundRect">
            <a:avLst>
              <a:gd name="adj" fmla="val 6742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67250" y="1804392"/>
            <a:ext cx="0" cy="1130201"/>
          </a:xfrm>
          <a:prstGeom prst="line">
            <a:avLst/>
          </a:prstGeom>
          <a:noFill/>
          <a:ln w="38100">
            <a:solidFill>
              <a:srgbClr val="8B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8700" y="1956792"/>
            <a:ext cx="39121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카이렌의 목표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38700" y="2210693"/>
            <a:ext cx="391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자신을 타락시킨 외우주 존재를 멸하는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8700" y="2401193"/>
            <a:ext cx="391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하수인으로서 저지른 죄의 값을 치르는 것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38700" y="2591693"/>
            <a:ext cx="3912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아이온(주인공)을 지켜 검은 재앙을 끝내는 것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8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4775"/>
            <a:ext cx="474315" cy="298252"/>
          </a:xfrm>
          <a:prstGeom prst="roundRect">
            <a:avLst>
              <a:gd name="adj" fmla="val 8516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6817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8716" y="101501"/>
            <a:ext cx="25478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 | 성격과 특성 / 관계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7450" y="698302"/>
            <a:ext cx="4127599" cy="901601"/>
          </a:xfrm>
          <a:prstGeom prst="roundRect">
            <a:avLst>
              <a:gd name="adj" fmla="val 845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36500" y="698302"/>
            <a:ext cx="0" cy="90160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950" y="850702"/>
            <a:ext cx="3860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온화하지만 지친 모습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1104602"/>
            <a:ext cx="38603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부드러운 미소와 따뜻한 손길. 하지만 술과 담배 냄새, 눈 밑의 잠 못 드는 밤의 흔적.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7450" y="1726853"/>
            <a:ext cx="4127599" cy="901601"/>
          </a:xfrm>
          <a:prstGeom prst="roundRect">
            <a:avLst>
              <a:gd name="adj" fmla="val 845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6500" y="1726853"/>
            <a:ext cx="0" cy="90160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950" y="1879253"/>
            <a:ext cx="3860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내면의 죄책감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2133154"/>
            <a:ext cx="38603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희생자들의 고통이 뒤엉킨 정신. 갑자기 멈추고 허공을 응시하거나, 손에 묻은 피를 씻는 듯한 동작 반복.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7450" y="2755404"/>
            <a:ext cx="4127599" cy="730151"/>
          </a:xfrm>
          <a:prstGeom prst="roundRect">
            <a:avLst>
              <a:gd name="adj" fmla="val 1043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6500" y="2755404"/>
            <a:ext cx="0" cy="73015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2907804"/>
            <a:ext cx="3860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경건함과 자기혐오의 공존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3161705"/>
            <a:ext cx="38603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여전히 깊은 신앙심. 매일 아침 기도. 하지만 동시에 자신을 용서하지 못함.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450" y="3612505"/>
            <a:ext cx="4127599" cy="730151"/>
          </a:xfrm>
          <a:prstGeom prst="roundRect">
            <a:avLst>
              <a:gd name="adj" fmla="val 10436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6500" y="3612505"/>
            <a:ext cx="0" cy="73015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3764905"/>
            <a:ext cx="3860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술과 담배 - 고통을 견디는 방법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950" y="4018806"/>
            <a:ext cx="38603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밤마다 돌아오는 희생자들의 기억. 고통을 견디기 위한 유일한 방법.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8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4775"/>
            <a:ext cx="474315" cy="298252"/>
          </a:xfrm>
          <a:prstGeom prst="roundRect">
            <a:avLst>
              <a:gd name="adj" fmla="val 8516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6817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8716" y="101501"/>
            <a:ext cx="18872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 | 플레이 경험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7450" y="698302"/>
            <a:ext cx="4127599" cy="1101328"/>
          </a:xfrm>
          <a:prstGeom prst="roundRect">
            <a:avLst>
              <a:gd name="adj" fmla="val 9225"/>
            </a:avLst>
          </a:prstGeom>
          <a:solidFill>
            <a:srgbClr val="2A48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0484" y="888802"/>
            <a:ext cx="38215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플레이 경험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484" y="1228427"/>
            <a:ext cx="382153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"치유의 대가는 적이 치른다"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484" y="1418779"/>
            <a:ext cx="382153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아군을 치유할수록 적이 약해지는 독특한 힐러 경험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7450" y="1926580"/>
            <a:ext cx="4127599" cy="827782"/>
          </a:xfrm>
          <a:prstGeom prst="roundRect">
            <a:avLst>
              <a:gd name="adj" fmla="val 920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4401" y="2053530"/>
            <a:ext cx="39511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기본적인 역할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401" y="2307431"/>
            <a:ext cx="3951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후방에서 아군을 치유하며 고통 스택을 축적하고, 적에게 강력한 디버프를 부여하는 힐러-디버퍼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7450" y="2881313"/>
            <a:ext cx="4127599" cy="827782"/>
          </a:xfrm>
          <a:prstGeom prst="roundRect">
            <a:avLst>
              <a:gd name="adj" fmla="val 920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4401" y="3008263"/>
            <a:ext cx="39511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4401" y="3262164"/>
            <a:ext cx="3951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힐러가 "치유만 하는 존재"였다면, 카이렌은 "적을 약화시키는 존재"로 확장. 아군 피해가 단순 손해가 아닌 "스택 축적 기회"로 전환됨.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7623" y="1452563"/>
            <a:ext cx="6228606" cy="2238226"/>
          </a:xfrm>
          <a:prstGeom prst="roundRect">
            <a:avLst>
              <a:gd name="adj" fmla="val 45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31555" y="2011263"/>
            <a:ext cx="42807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5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31555" y="2411313"/>
            <a:ext cx="42807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 시스템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431555" y="3071664"/>
            <a:ext cx="42807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 스택 / 패시브 / 인텐트 / 고유 카드 메커니즘 소개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8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4775"/>
            <a:ext cx="474315" cy="298252"/>
          </a:xfrm>
          <a:prstGeom prst="roundRect">
            <a:avLst>
              <a:gd name="adj" fmla="val 85163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6817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8716" y="101501"/>
            <a:ext cx="37530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 시스템 | 고통 스택 (Pain Stack)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7450" y="698302"/>
            <a:ext cx="4127599" cy="1514326"/>
          </a:xfrm>
          <a:prstGeom prst="roundRect">
            <a:avLst>
              <a:gd name="adj" fmla="val 6709"/>
            </a:avLst>
          </a:prstGeom>
          <a:solidFill>
            <a:srgbClr val="2A48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0484" y="888802"/>
            <a:ext cx="38215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 스택 게이지 (최대 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1948" y="121577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46349" y="121577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90750" y="121577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35151" y="121577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79552" y="121577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0484" y="1723727"/>
            <a:ext cx="382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5스택 도달 시 자동 발동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8950" y="698302"/>
            <a:ext cx="4127599" cy="1079302"/>
          </a:xfrm>
          <a:prstGeom prst="roundRect">
            <a:avLst>
              <a:gd name="adj" fmla="val 7060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18000" y="698302"/>
            <a:ext cx="0" cy="1079302"/>
          </a:xfrm>
          <a:prstGeom prst="line">
            <a:avLst/>
          </a:prstGeom>
          <a:noFill/>
          <a:ln w="381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001" y="825252"/>
            <a:ext cx="39123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5스택 발동 효과: 고통 전이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001" y="1079153"/>
            <a:ext cx="3912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행 적 전체에게 "고통 전이" 디버프 부여 (3턴)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64001" y="1269653"/>
            <a:ext cx="3912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받는 피해 +25%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64001" y="1460153"/>
            <a:ext cx="3912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회복량 -50%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8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4775"/>
            <a:ext cx="474315" cy="298252"/>
          </a:xfrm>
          <a:prstGeom prst="roundRect">
            <a:avLst>
              <a:gd name="adj" fmla="val 8516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6817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8716" y="101501"/>
            <a:ext cx="32343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 시스템 | 패시브 스킬 (3개)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3901" y="660202"/>
            <a:ext cx="2751683" cy="4330898"/>
          </a:xfrm>
          <a:prstGeom prst="roundRect">
            <a:avLst>
              <a:gd name="adj" fmla="val 36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3901" y="684014"/>
            <a:ext cx="2751683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301" y="860227"/>
            <a:ext cx="24958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패시브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301" y="1095077"/>
            <a:ext cx="24958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고통의 그릇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1358503"/>
            <a:ext cx="24958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"수많은 희생자들의 고통을 담았다."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6301" y="1612404"/>
            <a:ext cx="637431" cy="193477"/>
          </a:xfrm>
          <a:prstGeom prst="roundRect">
            <a:avLst>
              <a:gd name="adj" fmla="val 65641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802" y="1637705"/>
            <a:ext cx="4431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발동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6301" y="1907381"/>
            <a:ext cx="249582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 스택 보유량에 따라 치유량이 증가합니다.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6301" y="2151162"/>
            <a:ext cx="2446883" cy="784027"/>
          </a:xfrm>
          <a:prstGeom prst="roundRect">
            <a:avLst>
              <a:gd name="adj" fmla="val 64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802" y="2290763"/>
            <a:ext cx="2288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스택 1~2: 치유량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802" y="2471738"/>
            <a:ext cx="2288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스택 3~4: 치유량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7802" y="2652713"/>
            <a:ext cx="2288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스택 5: 치유량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96084" y="660202"/>
            <a:ext cx="2751832" cy="4330898"/>
          </a:xfrm>
          <a:prstGeom prst="roundRect">
            <a:avLst>
              <a:gd name="adj" fmla="val 36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196084" y="684014"/>
            <a:ext cx="2751832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8484" y="860227"/>
            <a:ext cx="24959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패시브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8484" y="1095077"/>
            <a:ext cx="24959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공감의 연결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48484" y="1358503"/>
            <a:ext cx="24959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"네 고통이 느껴져. 괜찮아, 내가 가져갈게."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48484" y="1612404"/>
            <a:ext cx="767209" cy="193477"/>
          </a:xfrm>
          <a:prstGeom prst="roundRect">
            <a:avLst>
              <a:gd name="adj" fmla="val 65641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49985" y="1637705"/>
            <a:ext cx="575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아군 피격 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48484" y="1907381"/>
            <a:ext cx="249597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행 아군이 피격당할 때 발동됩니다.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48484" y="2151162"/>
            <a:ext cx="2447032" cy="603052"/>
          </a:xfrm>
          <a:prstGeom prst="roundRect">
            <a:avLst>
              <a:gd name="adj" fmla="val 8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49985" y="2290763"/>
            <a:ext cx="2288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아군 피격: 스택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실드 15%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49985" y="2471738"/>
            <a:ext cx="2288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30% 이하: 스택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실드 25%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38416" y="660202"/>
            <a:ext cx="2751683" cy="4330898"/>
          </a:xfrm>
          <a:prstGeom prst="roundRect">
            <a:avLst>
              <a:gd name="adj" fmla="val 3692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138416" y="684014"/>
            <a:ext cx="2751683" cy="0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0816" y="860227"/>
            <a:ext cx="24958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패시브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90816" y="1095077"/>
            <a:ext cx="24958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망각의 손길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90816" y="1358503"/>
            <a:ext cx="24958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 고통은 이제 네 것이 아니야. 적의 것이지."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90816" y="1612404"/>
            <a:ext cx="693837" cy="193477"/>
          </a:xfrm>
          <a:prstGeom prst="roundRect">
            <a:avLst>
              <a:gd name="adj" fmla="val 65641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92317" y="1637705"/>
            <a:ext cx="500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5스택 자동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90816" y="1907381"/>
            <a:ext cx="249582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 스택 5 도달 시 자동으로 발동됩니다.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90816" y="2151162"/>
            <a:ext cx="2446883" cy="784027"/>
          </a:xfrm>
          <a:prstGeom prst="roundRect">
            <a:avLst>
              <a:gd name="adj" fmla="val 64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92317" y="2290763"/>
            <a:ext cx="2288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행 적 전체 "고통 전이" 디버프 (3턴)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92317" y="2471738"/>
            <a:ext cx="2288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받는 피해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92317" y="2652713"/>
            <a:ext cx="2288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회복량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8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4775"/>
            <a:ext cx="474315" cy="298252"/>
          </a:xfrm>
          <a:prstGeom prst="roundRect">
            <a:avLst>
              <a:gd name="adj" fmla="val 8516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6817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8716" y="101501"/>
            <a:ext cx="32343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 시스템 | 고유 인텐트 (3개)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3901" y="660202"/>
            <a:ext cx="2777133" cy="4330898"/>
          </a:xfrm>
          <a:prstGeom prst="roundRect">
            <a:avLst>
              <a:gd name="adj" fmla="val 365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77713" y="660202"/>
            <a:ext cx="0" cy="4330898"/>
          </a:xfrm>
          <a:prstGeom prst="line">
            <a:avLst/>
          </a:prstGeom>
          <a:noFill/>
          <a:ln w="47625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476" y="788640"/>
            <a:ext cx="751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치유의 손길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11747" y="787152"/>
            <a:ext cx="592336" cy="193477"/>
          </a:xfrm>
          <a:prstGeom prst="roundRect">
            <a:avLst>
              <a:gd name="adj" fmla="val 65641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13248" y="812453"/>
            <a:ext cx="3971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2턴 주기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476" y="1044029"/>
            <a:ext cx="25251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i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"아프지 않게 해줄게요."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8476" y="1288405"/>
            <a:ext cx="25251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해금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8476" y="1504206"/>
            <a:ext cx="2475607" cy="764977"/>
          </a:xfrm>
          <a:prstGeom prst="roundRect">
            <a:avLst>
              <a:gd name="adj" fmla="val 66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4676" y="1580406"/>
            <a:ext cx="2369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행동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4676" y="1761381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조건: HP 100% 미만 아군 존재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4676" y="1913781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 가장 낮은 아군 치유 (최대 HP 30%)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04676" y="2053382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 스택 +1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8476" y="2345382"/>
            <a:ext cx="2475607" cy="472976"/>
          </a:xfrm>
          <a:prstGeom prst="roundRect">
            <a:avLst>
              <a:gd name="adj" fmla="val 1074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4676" y="2421582"/>
            <a:ext cx="2369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 행동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4676" y="2602557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자힐 (최대 HP 10%) + 스택 +1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183434" y="660202"/>
            <a:ext cx="2777133" cy="4330898"/>
          </a:xfrm>
          <a:prstGeom prst="roundRect">
            <a:avLst>
              <a:gd name="adj" fmla="val 365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07246" y="660202"/>
            <a:ext cx="0" cy="4330898"/>
          </a:xfrm>
          <a:prstGeom prst="line">
            <a:avLst/>
          </a:prstGeom>
          <a:noFill/>
          <a:ln w="47625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8009" y="788640"/>
            <a:ext cx="751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고통의 물결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41280" y="787152"/>
            <a:ext cx="592336" cy="193477"/>
          </a:xfrm>
          <a:prstGeom prst="roundRect">
            <a:avLst>
              <a:gd name="adj" fmla="val 65641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42781" y="812453"/>
            <a:ext cx="3971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3턴 주기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58009" y="1044029"/>
            <a:ext cx="25251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i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 고통은 제가 가져갔어요."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58009" y="1288405"/>
            <a:ext cx="25251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Lv.10 해금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58009" y="1504206"/>
            <a:ext cx="2475607" cy="904577"/>
          </a:xfrm>
          <a:prstGeom prst="roundRect">
            <a:avLst>
              <a:gd name="adj" fmla="val 56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34209" y="1580406"/>
            <a:ext cx="2369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행동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34209" y="1761381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조건: 같은 행 적 존재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434209" y="1913781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행 적 전체 "약화" 디버프 (2턴)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434209" y="2053382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약화: 공격력 -20%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434209" y="2192982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 스택 +1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358009" y="2484983"/>
            <a:ext cx="2475607" cy="472976"/>
          </a:xfrm>
          <a:prstGeom prst="roundRect">
            <a:avLst>
              <a:gd name="adj" fmla="val 1074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34209" y="2561183"/>
            <a:ext cx="2369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 행동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34209" y="2742158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행 아군 "보호" (받피 -15%, 2턴)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112966" y="660202"/>
            <a:ext cx="2777133" cy="4330898"/>
          </a:xfrm>
          <a:prstGeom prst="roundRect">
            <a:avLst>
              <a:gd name="adj" fmla="val 365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136779" y="660202"/>
            <a:ext cx="0" cy="4330898"/>
          </a:xfrm>
          <a:prstGeom prst="line">
            <a:avLst/>
          </a:prstGeom>
          <a:noFill/>
          <a:ln w="47625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7542" y="788640"/>
            <a:ext cx="8942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망자들의 비명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70813" y="787152"/>
            <a:ext cx="592336" cy="193477"/>
          </a:xfrm>
          <a:prstGeom prst="roundRect">
            <a:avLst>
              <a:gd name="adj" fmla="val 65641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272314" y="812453"/>
            <a:ext cx="3971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4턴 주기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87542" y="1044029"/>
            <a:ext cx="25251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i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"그들이 느꼈던 것을 너희도 느껴봐."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87542" y="1288405"/>
            <a:ext cx="25251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Lv.20 해금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287542" y="1504206"/>
            <a:ext cx="2475607" cy="904577"/>
          </a:xfrm>
          <a:prstGeom prst="roundRect">
            <a:avLst>
              <a:gd name="adj" fmla="val 56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63742" y="1580406"/>
            <a:ext cx="2369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행동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63742" y="1761381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조건: 고통 스택 3 이상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363742" y="1913781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 전체 "공포" 디버프 (2턴)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363742" y="2053382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공포: 턴 주기 +1, 스피드 -20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363742" y="2192982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스택 x 10% 데미지 + 스택 소모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287542" y="2484983"/>
            <a:ext cx="2475607" cy="472976"/>
          </a:xfrm>
          <a:prstGeom prst="roundRect">
            <a:avLst>
              <a:gd name="adj" fmla="val 10740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63742" y="2561183"/>
            <a:ext cx="23696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 행동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63742" y="2742158"/>
            <a:ext cx="23696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스택 +2, 집중 버프 (치유량 +50%)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8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4775"/>
            <a:ext cx="474315" cy="298252"/>
          </a:xfrm>
          <a:prstGeom prst="roundRect">
            <a:avLst>
              <a:gd name="adj" fmla="val 8516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6817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8716" y="101501"/>
            <a:ext cx="30011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 시스템 | 고유 카드 (3개)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3901" y="660202"/>
            <a:ext cx="2777133" cy="4330898"/>
          </a:xfrm>
          <a:prstGeom prst="roundRect">
            <a:avLst>
              <a:gd name="adj" fmla="val 3658"/>
            </a:avLst>
          </a:prstGeom>
          <a:solidFill>
            <a:srgbClr val="2A4858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5351" y="845939"/>
            <a:ext cx="609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 분담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7346" y="831652"/>
            <a:ext cx="522238" cy="219075"/>
          </a:xfrm>
          <a:prstGeom prst="roundRect">
            <a:avLst>
              <a:gd name="adj" fmla="val 23188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64296" y="869752"/>
            <a:ext cx="273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5351" y="1152227"/>
            <a:ext cx="2482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액션 (Action)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5351" y="1358503"/>
            <a:ext cx="2482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아군 1명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5351" y="1602879"/>
            <a:ext cx="2482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"네 상처는 내가 가져갈게."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5351" y="1872704"/>
            <a:ext cx="2434233" cy="857994"/>
          </a:xfrm>
          <a:prstGeom prst="roundRect">
            <a:avLst>
              <a:gd name="adj" fmla="val 592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6852" y="1974205"/>
            <a:ext cx="2275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효과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6852" y="2180481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아군 HP </a:t>
            </a:r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회복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6852" y="2330053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디버프 해제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26852" y="2479625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고통 스택 </a:t>
            </a:r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5351" y="2806898"/>
            <a:ext cx="2434233" cy="558850"/>
          </a:xfrm>
          <a:prstGeom prst="roundRect">
            <a:avLst>
              <a:gd name="adj" fmla="val 909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6852" y="2908399"/>
            <a:ext cx="2275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효과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6852" y="3114675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해제된 디버프 1개당 같은 행 적 1명에게 전이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183434" y="660202"/>
            <a:ext cx="2777133" cy="4330898"/>
          </a:xfrm>
          <a:prstGeom prst="roundRect">
            <a:avLst>
              <a:gd name="adj" fmla="val 3658"/>
            </a:avLst>
          </a:prstGeom>
          <a:solidFill>
            <a:srgbClr val="2A4858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54884" y="845939"/>
            <a:ext cx="751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망각의 장막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66879" y="831652"/>
            <a:ext cx="522238" cy="219075"/>
          </a:xfrm>
          <a:prstGeom prst="roundRect">
            <a:avLst>
              <a:gd name="adj" fmla="val 23188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93829" y="869752"/>
            <a:ext cx="273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4884" y="1152227"/>
            <a:ext cx="2482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인챈트 (Enchant)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54884" y="1358503"/>
            <a:ext cx="2482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카이렌 (지속 효과)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54884" y="1602879"/>
            <a:ext cx="2482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안에서는 고통을 잊을 수 있어."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54884" y="1872704"/>
            <a:ext cx="2434233" cy="708422"/>
          </a:xfrm>
          <a:prstGeom prst="roundRect">
            <a:avLst>
              <a:gd name="adj" fmla="val 717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56384" y="1974205"/>
            <a:ext cx="2275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아군 효과 (같은 행)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56384" y="2180481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받는 피해 </a:t>
            </a:r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456384" y="2330053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턴 HP 회복 (최대 HP 5%)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354884" y="2657326"/>
            <a:ext cx="2434233" cy="558850"/>
          </a:xfrm>
          <a:prstGeom prst="roundRect">
            <a:avLst>
              <a:gd name="adj" fmla="val 909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56384" y="2758827"/>
            <a:ext cx="2275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 효과 (같은 행)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56384" y="2965103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명중률 </a:t>
            </a:r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-15%</a:t>
            </a:r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치명타 </a:t>
            </a:r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-20%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112966" y="660202"/>
            <a:ext cx="2777133" cy="4330898"/>
          </a:xfrm>
          <a:prstGeom prst="roundRect">
            <a:avLst>
              <a:gd name="adj" fmla="val 3658"/>
            </a:avLst>
          </a:prstGeom>
          <a:solidFill>
            <a:srgbClr val="2A4858"/>
          </a:solidFill>
          <a:ln w="19050">
            <a:solidFill>
              <a:srgbClr val="FFD7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84416" y="845939"/>
            <a:ext cx="8942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망자들의 유언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96411" y="831652"/>
            <a:ext cx="522238" cy="219075"/>
          </a:xfrm>
          <a:prstGeom prst="roundRect">
            <a:avLst>
              <a:gd name="adj" fmla="val 23188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323362" y="869752"/>
            <a:ext cx="2737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84416" y="1152227"/>
            <a:ext cx="2482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액션 (Action)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84416" y="1358503"/>
            <a:ext cx="2482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대상: 아군 전체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84416" y="1602879"/>
            <a:ext cx="24829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i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"그들이 하지 못했던 말을 대신 전할게."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84416" y="1872704"/>
            <a:ext cx="2434233" cy="857994"/>
          </a:xfrm>
          <a:prstGeom prst="roundRect">
            <a:avLst>
              <a:gd name="adj" fmla="val 592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85917" y="1974205"/>
            <a:ext cx="2275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효과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85917" y="2180481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아군 전체 HP </a:t>
            </a:r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회복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385917" y="2330053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디버프 해제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85917" y="2479625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"유언의 가호" 버프 (3턴)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284416" y="2806898"/>
            <a:ext cx="2434233" cy="558850"/>
          </a:xfrm>
          <a:prstGeom prst="roundRect">
            <a:avLst>
              <a:gd name="adj" fmla="val 909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385917" y="2908399"/>
            <a:ext cx="2275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유언의 가호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85917" y="3114675"/>
            <a:ext cx="2275856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E5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치명타 피해 -50%, 즉사 1회 방지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0668" y="1452563"/>
            <a:ext cx="5122515" cy="2238226"/>
          </a:xfrm>
          <a:prstGeom prst="roundRect">
            <a:avLst>
              <a:gd name="adj" fmla="val 453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95662" y="2011263"/>
            <a:ext cx="31525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5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95662" y="2411313"/>
            <a:ext cx="31525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외형 및 리소스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995662" y="3071664"/>
            <a:ext cx="31525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캐릭터 제작에 필요한 아트 리소스 목록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8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4775"/>
            <a:ext cx="474315" cy="298252"/>
          </a:xfrm>
          <a:prstGeom prst="roundRect">
            <a:avLst>
              <a:gd name="adj" fmla="val 8516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6817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8716" y="101501"/>
            <a:ext cx="27162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외형 및 리소스 | 외형 컨셉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3901" y="660202"/>
            <a:ext cx="2286000" cy="3301901"/>
          </a:xfrm>
          <a:prstGeom prst="roundRect">
            <a:avLst>
              <a:gd name="adj" fmla="val 4444"/>
            </a:avLst>
          </a:prstGeom>
          <a:solidFill>
            <a:srgbClr val="2A48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6360" y="1682502"/>
            <a:ext cx="1361081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30대 중반 남성</a:t>
            </a:r>
            <a:endParaRPr lang="en-US" sz="1100" dirty="0"/>
          </a:p>
          <a:p>
            <a:pPr algn="ctr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온화하지만 지친 인상</a:t>
            </a:r>
            <a:endParaRPr lang="en-US" sz="1100" dirty="0"/>
          </a:p>
          <a:p>
            <a:pPr algn="ctr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낡은 사제복</a:t>
            </a:r>
            <a:endParaRPr lang="en-US" sz="1100" dirty="0"/>
          </a:p>
          <a:p>
            <a:pPr algn="ctr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손에서 검푸른 안개</a:t>
            </a:r>
            <a:endParaRPr lang="en-US" sz="1100" dirty="0"/>
          </a:p>
          <a:p>
            <a:pPr algn="ctr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lang="en-US" sz="1100" dirty="0"/>
          </a:p>
          <a:p>
            <a:pPr algn="ctr" indent="0" marL="0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[캐릭터 컨셉 이미지]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84302" y="660202"/>
            <a:ext cx="5905798" cy="697111"/>
          </a:xfrm>
          <a:prstGeom prst="roundRect">
            <a:avLst>
              <a:gd name="adj" fmla="val 10931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003352" y="660202"/>
            <a:ext cx="0" cy="69711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4802" y="761702"/>
            <a:ext cx="56741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실루엣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74802" y="971252"/>
            <a:ext cx="5674156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부드러운 갈색/은색 혼합 머리카락 (약간 헝클어짐), 온화한 미소와 눈 밑 잠 못 드는 밤의 흔적. 낡은 사제복 (한때 화려했으나 닳고 낡음)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84302" y="1458813"/>
            <a:ext cx="5905798" cy="554831"/>
          </a:xfrm>
          <a:prstGeom prst="roundRect">
            <a:avLst>
              <a:gd name="adj" fmla="val 1373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03352" y="1458813"/>
            <a:ext cx="0" cy="55483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4802" y="1560314"/>
            <a:ext cx="56741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손의 시각적 효과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74802" y="1769864"/>
            <a:ext cx="567415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손에서 검푸른 안개가 피어오름. 치유 시 온화한 빛, 전이 시 불길한 빛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84302" y="2115145"/>
            <a:ext cx="5905798" cy="554831"/>
          </a:xfrm>
          <a:prstGeom prst="roundRect">
            <a:avLst>
              <a:gd name="adj" fmla="val 1373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003352" y="2115145"/>
            <a:ext cx="0" cy="55483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4802" y="2216646"/>
            <a:ext cx="56741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캐주얼 소지품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74802" y="2426196"/>
            <a:ext cx="567415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허리춤에 술병, 주머니에 담배. 술과 담배 냄새가 살짝 묻어있는 분위기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984302" y="2771477"/>
            <a:ext cx="5905798" cy="554831"/>
          </a:xfrm>
          <a:prstGeom prst="roundRect">
            <a:avLst>
              <a:gd name="adj" fmla="val 13734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003352" y="2771477"/>
            <a:ext cx="0" cy="554831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4802" y="2872978"/>
            <a:ext cx="56741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등의 오라 (선택적)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74802" y="3082528"/>
            <a:ext cx="567415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희생자들의 희미한 빛이 떠있는 듯한 오라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84302" y="3491210"/>
            <a:ext cx="60239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색상 팔레트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84302" y="3903762"/>
            <a:ext cx="400050" cy="4000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980301" y="4341912"/>
            <a:ext cx="408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</a:t>
            </a:r>
            <a:endParaRPr lang="en-US" sz="700" dirty="0"/>
          </a:p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낡은 흰색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85852" y="3903762"/>
            <a:ext cx="381000" cy="381000"/>
          </a:xfrm>
          <a:prstGeom prst="roundRect">
            <a:avLst>
              <a:gd name="adj" fmla="val 13333"/>
            </a:avLst>
          </a:prstGeom>
          <a:solidFill>
            <a:srgbClr val="2A48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82042" y="432286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강조</a:t>
            </a:r>
            <a:endParaRPr lang="en-US" sz="700" dirty="0"/>
          </a:p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검푸른색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968353" y="3903762"/>
            <a:ext cx="381000" cy="381000"/>
          </a:xfrm>
          <a:prstGeom prst="roundRect">
            <a:avLst>
              <a:gd name="adj" fmla="val 13333"/>
            </a:avLst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64543" y="432286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700" dirty="0"/>
          </a:p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검붉은색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450854" y="3903762"/>
            <a:ext cx="381000" cy="381000"/>
          </a:xfrm>
          <a:prstGeom prst="roundRect">
            <a:avLst>
              <a:gd name="adj" fmla="val 13333"/>
            </a:avLst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447044" y="432286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치유</a:t>
            </a:r>
            <a:endParaRPr lang="en-US" sz="700" dirty="0"/>
          </a:p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금색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933355" y="3903762"/>
            <a:ext cx="381000" cy="381000"/>
          </a:xfrm>
          <a:prstGeom prst="roundRect">
            <a:avLst>
              <a:gd name="adj" fmla="val 13333"/>
            </a:avLst>
          </a:prstGeom>
          <a:solidFill>
            <a:srgbClr val="C0C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29545" y="4322862"/>
            <a:ext cx="388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신앙</a:t>
            </a:r>
            <a:endParaRPr lang="en-US" sz="700" dirty="0"/>
          </a:p>
          <a:p>
            <a:pPr algn="ctr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은색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802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4775"/>
            <a:ext cx="474315" cy="298252"/>
          </a:xfrm>
          <a:prstGeom prst="roundRect">
            <a:avLst>
              <a:gd name="adj" fmla="val 85163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68176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8716" y="101501"/>
            <a:ext cx="43095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외형 및 리소스 | 애니메이션 / 이펙트 목록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3901" y="660202"/>
            <a:ext cx="4307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애니메이션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3901" y="2250281"/>
            <a:ext cx="4307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인텐트 애니메이션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7250" y="660202"/>
            <a:ext cx="4307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패시브 이펙트 (VFX)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7250" y="2024955"/>
            <a:ext cx="43073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요소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캐릭터 기획서 - 카이렌 (Kairen)</dc:title>
  <dc:subject>힐러-디버퍼 캐릭터 상세 기획</dc:subject>
  <dc:creator>AirDesign</dc:creator>
  <cp:lastModifiedBy>AirDesign</cp:lastModifiedBy>
  <cp:revision>1</cp:revision>
  <dcterms:created xsi:type="dcterms:W3CDTF">2026-02-04T12:01:52Z</dcterms:created>
  <dcterms:modified xsi:type="dcterms:W3CDTF">2026-02-04T12:01:52Z</dcterms:modified>
</cp:coreProperties>
</file>